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9" r:id="rId4"/>
    <p:sldId id="258" r:id="rId5"/>
    <p:sldId id="260" r:id="rId6"/>
    <p:sldId id="261" r:id="rId7"/>
    <p:sldId id="262" r:id="rId8"/>
    <p:sldId id="265" r:id="rId9"/>
    <p:sldId id="264" r:id="rId10"/>
    <p:sldId id="263" r:id="rId11"/>
    <p:sldId id="266" r:id="rId12"/>
    <p:sldId id="267" r:id="rId13"/>
    <p:sldId id="268" r:id="rId14"/>
    <p:sldId id="269" r:id="rId15"/>
    <p:sldId id="271" r:id="rId16"/>
    <p:sldId id="270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A785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1"/>
    <p:restoredTop sz="94694"/>
  </p:normalViewPr>
  <p:slideViewPr>
    <p:cSldViewPr snapToGrid="0">
      <p:cViewPr varScale="1">
        <p:scale>
          <a:sx n="104" d="100"/>
          <a:sy n="104" d="100"/>
        </p:scale>
        <p:origin x="232" y="5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8F58F8-4D76-0BE4-B35E-150AB41CBD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B959487-3B11-123D-620C-D07FEC9DCF6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5D6CE1C-5BF1-3012-3D99-EB2F3783E7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BA0419-7847-124E-9E85-7E8739FD7FC0}" type="datetimeFigureOut">
              <a:rPr lang="en-US" smtClean="0"/>
              <a:t>12/1/25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9439AAF-4CCF-80AC-74EB-DDD072E6BD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76605D7-E8B9-0914-947D-2AA17AD6BF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2E249-9E7B-674D-AD24-FB16DA55AE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59371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918D8D-9AEC-3A87-42B9-ABF9C888DF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9932B6-0CB3-DAC8-E0CE-7245F25C7BC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24B2A04-A200-B791-6393-0E336BD5BC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BA0419-7847-124E-9E85-7E8739FD7FC0}" type="datetimeFigureOut">
              <a:rPr lang="en-US" smtClean="0"/>
              <a:t>12/1/25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7260F20-31D9-FF56-018B-BDA8B2E3CB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95BC557-BD24-9BC8-6C91-2E34790239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2E249-9E7B-674D-AD24-FB16DA55AE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628205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BE7CB8-1C6B-1E09-7AB2-609EE4528A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BAA1B79-11F8-534E-5BC2-F6FD2F3405E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EF09884-B307-6901-DD43-4FA38E1504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BA0419-7847-124E-9E85-7E8739FD7FC0}" type="datetimeFigureOut">
              <a:rPr lang="en-US" smtClean="0"/>
              <a:t>12/1/25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D4E751A-4D4B-BD55-6987-AA31209023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3148F44-40AA-8805-676C-66421CFA55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2E249-9E7B-674D-AD24-FB16DA55AE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533803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60E68D-7F60-DD9E-7F5C-CC091C06C9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F0AAEC-0B62-9C2B-A52A-3C84846A213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8CEE385-B818-2595-F011-CB915D1FD45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E918C0D-C309-98A7-6BEF-2019BE8940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BA0419-7847-124E-9E85-7E8739FD7FC0}" type="datetimeFigureOut">
              <a:rPr lang="en-US" smtClean="0"/>
              <a:t>12/1/25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E8B003E-124C-785C-6706-8512E3EF35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0E2858C-70FA-84B6-8E31-0D58EAFFAA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2E249-9E7B-674D-AD24-FB16DA55AE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89413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A53F6C-FFAA-9F64-A934-A61DB88EAF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2602D0C-70FA-9874-4ACB-652BC96754F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06ECD93-7B1E-8A84-6C47-69F29A865DD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3BD0F28-69FD-9EDE-A545-C7491267B96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618D077-ECA1-0627-4F17-249194ECE4F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165799B-62CD-40C2-13A8-E094D880AB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BA0419-7847-124E-9E85-7E8739FD7FC0}" type="datetimeFigureOut">
              <a:rPr lang="en-US" smtClean="0"/>
              <a:t>12/1/25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44C87DD-EDB9-AAA6-29EF-9CCC6D9A0E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0CBCACB-D5B4-4119-8C64-2A311CF603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2E249-9E7B-674D-AD24-FB16DA55AE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879696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93F885-66C1-EC49-B317-052F958F77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302D784-149E-DFB4-C5CD-525BEC1A04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BA0419-7847-124E-9E85-7E8739FD7FC0}" type="datetimeFigureOut">
              <a:rPr lang="en-US" smtClean="0"/>
              <a:t>12/1/25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C0BB26A-1986-C0DC-EA8F-891EDF04D9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19A70A4-C8B7-71BD-FF1E-8B2D2BE32E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2E249-9E7B-674D-AD24-FB16DA55AE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463853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01D3C25-5FB4-1091-7596-ADDC8FC6A7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BA0419-7847-124E-9E85-7E8739FD7FC0}" type="datetimeFigureOut">
              <a:rPr lang="en-US" smtClean="0"/>
              <a:t>12/1/25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572BC6C-4897-9403-80FD-671CC81008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2A4B674-AFB8-DF4B-2BC2-6391D3A535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2E249-9E7B-674D-AD24-FB16DA55AE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315498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F2B563-C293-A434-4446-F987B80B23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56333C-38E9-2EBF-3DE0-3874E5AAF6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A3DB3F2-9D93-1B04-F386-3AF7B4EB76D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0753B52-D730-E41D-6A29-8FFA5CDE6E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BA0419-7847-124E-9E85-7E8739FD7FC0}" type="datetimeFigureOut">
              <a:rPr lang="en-US" smtClean="0"/>
              <a:t>12/1/25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8F0890F-C4E3-9D76-F461-D2A173A568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182F329-4BE9-CCC0-4820-E055B400BD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2E249-9E7B-674D-AD24-FB16DA55AE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861883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E8AC17-B6CF-78DA-A587-C2107AFC5C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1DBAA58-8BDD-A110-2BFC-3844CBFE3CF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0176970-EF5A-D316-9306-C142E46DA8D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D3D68B1-964B-A38A-A974-9B7AF0013C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BA0419-7847-124E-9E85-7E8739FD7FC0}" type="datetimeFigureOut">
              <a:rPr lang="en-US" smtClean="0"/>
              <a:t>12/1/25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4002AD1-BDD7-BECA-AFD2-1EDCAA1DCD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AED134D-ECF5-3198-E5EF-063FDD39E7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2E249-9E7B-674D-AD24-FB16DA55AE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405742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4A4C82-6519-CDEF-4C99-13FD1971FA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3B2EADB-FED1-ACAE-19D9-F6A333491B2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7682656-7431-A757-7EEC-8B6E73887B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BA0419-7847-124E-9E85-7E8739FD7FC0}" type="datetimeFigureOut">
              <a:rPr lang="en-US" smtClean="0"/>
              <a:t>12/1/25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FFC374D-D514-2626-7B1D-FF26AE2057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90AA31-E9C4-3237-07AD-580D806CC3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2E249-9E7B-674D-AD24-FB16DA55AE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21082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9D2E016-0ED3-9FE0-80E4-BEA103F5154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F8D8046-9A60-51AB-31DA-540F6308F6A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65889F-56FF-54BD-514B-62FA6853D9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BA0419-7847-124E-9E85-7E8739FD7FC0}" type="datetimeFigureOut">
              <a:rPr lang="en-US" smtClean="0"/>
              <a:t>12/1/25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69F16E1-9115-C087-7745-79D8AF6E9E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CAAFC1-1EDE-7F21-2379-74BCF7EF42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2E249-9E7B-674D-AD24-FB16DA55AE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22235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CF68CB2-848B-8AB6-2812-323BFBCAB1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2EB27C9-71B3-F08E-D959-C1FBAD0B43E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C9EF03-13F4-6556-A8E3-43F3B62B8BA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5BA0419-7847-124E-9E85-7E8739FD7FC0}" type="datetimeFigureOut">
              <a:rPr lang="en-US" smtClean="0"/>
              <a:t>12/1/25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E98B691-BA20-4A7C-A2DA-A94C5FBBF86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F5F22A-5AAC-03DC-FAE5-11C27164B37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C52E249-9E7B-674D-AD24-FB16DA55AE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64626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1A272A-0F84-4B21-362A-22257C83F78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Claude Skills for Intelligent Textbooks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FAEE314-40CF-6ED1-D5B1-E34030F6B12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Dan McCreary</a:t>
            </a:r>
          </a:p>
          <a:p>
            <a:r>
              <a:rPr lang="en-US" dirty="0"/>
              <a:t>December 1</a:t>
            </a:r>
            <a:r>
              <a:rPr lang="en-US" baseline="30000" dirty="0"/>
              <a:t>st</a:t>
            </a:r>
            <a:r>
              <a:rPr lang="en-US" dirty="0"/>
              <a:t>, 2025</a:t>
            </a:r>
          </a:p>
          <a:p>
            <a:r>
              <a:rPr lang="en-US" dirty="0"/>
              <a:t>Version 0.03</a:t>
            </a:r>
          </a:p>
        </p:txBody>
      </p:sp>
    </p:spTree>
    <p:extLst>
      <p:ext uri="{BB962C8B-B14F-4D97-AF65-F5344CB8AC3E}">
        <p14:creationId xmlns:p14="http://schemas.microsoft.com/office/powerpoint/2010/main" val="30119575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E7A79C7D-42EA-C222-7EA9-B61D81C52F25}"/>
              </a:ext>
            </a:extLst>
          </p:cNvPr>
          <p:cNvSpPr/>
          <p:nvPr/>
        </p:nvSpPr>
        <p:spPr>
          <a:xfrm>
            <a:off x="2583272" y="329656"/>
            <a:ext cx="6716111" cy="1145627"/>
          </a:xfrm>
          <a:prstGeom prst="roundRect">
            <a:avLst/>
          </a:prstGeom>
          <a:solidFill>
            <a:schemeClr val="bg1"/>
          </a:solidFill>
          <a:effectLst>
            <a:outerShdw blurRad="50800" dist="38100" dir="2700000" sx="102000" sy="102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5400" dirty="0">
                <a:solidFill>
                  <a:schemeClr val="tx1"/>
                </a:solidFill>
              </a:rPr>
              <a:t>Course Description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CC3307A1-E4C5-D9D7-3710-70EBE6E3847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62682" y="2014829"/>
            <a:ext cx="4957291" cy="25692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50C8B2F7-A4E4-6DF3-94F3-361697B5FF02}"/>
              </a:ext>
            </a:extLst>
          </p:cNvPr>
          <p:cNvSpPr/>
          <p:nvPr/>
        </p:nvSpPr>
        <p:spPr>
          <a:xfrm>
            <a:off x="2583272" y="5350619"/>
            <a:ext cx="6716111" cy="1145627"/>
          </a:xfrm>
          <a:prstGeom prst="roundRect">
            <a:avLst/>
          </a:prstGeom>
          <a:solidFill>
            <a:schemeClr val="bg1"/>
          </a:solidFill>
          <a:effectLst>
            <a:outerShdw blurRad="50800" dist="38100" dir="2700000" sx="102000" sy="102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5400" dirty="0">
                <a:solidFill>
                  <a:schemeClr val="tx1"/>
                </a:solidFill>
              </a:rPr>
              <a:t>Intelligent Textbook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59EA74CD-C46C-2154-315A-6623141089BA}"/>
              </a:ext>
            </a:extLst>
          </p:cNvPr>
          <p:cNvCxnSpPr>
            <a:stCxn id="7" idx="2"/>
            <a:endCxn id="1026" idx="0"/>
          </p:cNvCxnSpPr>
          <p:nvPr/>
        </p:nvCxnSpPr>
        <p:spPr>
          <a:xfrm>
            <a:off x="5941328" y="1475283"/>
            <a:ext cx="0" cy="539546"/>
          </a:xfrm>
          <a:prstGeom prst="straightConnector1">
            <a:avLst/>
          </a:prstGeom>
          <a:ln w="76200">
            <a:solidFill>
              <a:schemeClr val="accent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FD7B8077-CCC7-5B93-6FB4-9E6D48E5354F}"/>
              </a:ext>
            </a:extLst>
          </p:cNvPr>
          <p:cNvCxnSpPr>
            <a:cxnSpLocks/>
            <a:stCxn id="1026" idx="2"/>
            <a:endCxn id="8" idx="0"/>
          </p:cNvCxnSpPr>
          <p:nvPr/>
        </p:nvCxnSpPr>
        <p:spPr>
          <a:xfrm>
            <a:off x="5941328" y="4584119"/>
            <a:ext cx="0" cy="766500"/>
          </a:xfrm>
          <a:prstGeom prst="straightConnector1">
            <a:avLst/>
          </a:prstGeom>
          <a:ln w="76200">
            <a:solidFill>
              <a:schemeClr val="accent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2429878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1CEA23-ACA3-8210-7B4E-2832700C66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5713" y="278628"/>
            <a:ext cx="10515600" cy="746983"/>
          </a:xfrm>
        </p:spPr>
        <p:txBody>
          <a:bodyPr/>
          <a:lstStyle/>
          <a:p>
            <a:r>
              <a:rPr lang="en-US" dirty="0"/>
              <a:t>Five Levels of Intelligent Textbooks</a:t>
            </a:r>
          </a:p>
        </p:txBody>
      </p:sp>
      <p:pic>
        <p:nvPicPr>
          <p:cNvPr id="5" name="Picture 4" descr="A diagram of text on a computer&#10;&#10;AI-generated content may be incorrect.">
            <a:extLst>
              <a:ext uri="{FF2B5EF4-FFF2-40B4-BE49-F238E27FC236}">
                <a16:creationId xmlns:a16="http://schemas.microsoft.com/office/drawing/2014/main" id="{1D70AFF0-32AA-8771-4CE7-D28F540A7E3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2444" y="1266659"/>
            <a:ext cx="9284704" cy="5001907"/>
          </a:xfrm>
          <a:prstGeom prst="rect">
            <a:avLst/>
          </a:prstGeom>
        </p:spPr>
      </p:pic>
      <p:sp>
        <p:nvSpPr>
          <p:cNvPr id="6" name="Left Arrow 5">
            <a:extLst>
              <a:ext uri="{FF2B5EF4-FFF2-40B4-BE49-F238E27FC236}">
                <a16:creationId xmlns:a16="http://schemas.microsoft.com/office/drawing/2014/main" id="{E0A5777A-F61B-9986-3909-16859AFEC62C}"/>
              </a:ext>
            </a:extLst>
          </p:cNvPr>
          <p:cNvSpPr/>
          <p:nvPr/>
        </p:nvSpPr>
        <p:spPr>
          <a:xfrm>
            <a:off x="9919586" y="4355677"/>
            <a:ext cx="1124465" cy="864973"/>
          </a:xfrm>
          <a:prstGeom prst="lef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Today</a:t>
            </a:r>
          </a:p>
        </p:txBody>
      </p:sp>
    </p:spTree>
    <p:extLst>
      <p:ext uri="{BB962C8B-B14F-4D97-AF65-F5344CB8AC3E}">
        <p14:creationId xmlns:p14="http://schemas.microsoft.com/office/powerpoint/2010/main" val="153741575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685389-81DA-B29A-2083-CA73E4EFE8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6309" y="186995"/>
            <a:ext cx="10515600" cy="1325563"/>
          </a:xfrm>
        </p:spPr>
        <p:txBody>
          <a:bodyPr/>
          <a:lstStyle/>
          <a:p>
            <a:r>
              <a:rPr lang="en-US" dirty="0"/>
              <a:t>Bloom 2001 Taxonomy</a:t>
            </a:r>
          </a:p>
        </p:txBody>
      </p:sp>
      <p:pic>
        <p:nvPicPr>
          <p:cNvPr id="5" name="Picture 4" descr="A rainbow pyramid with text&#10;&#10;AI-generated content may be incorrect.">
            <a:extLst>
              <a:ext uri="{FF2B5EF4-FFF2-40B4-BE49-F238E27FC236}">
                <a16:creationId xmlns:a16="http://schemas.microsoft.com/office/drawing/2014/main" id="{4591B8CC-4CBA-54A5-31A8-C9CD9ED2D73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47744" y="1328102"/>
            <a:ext cx="6838759" cy="52539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174342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14DF61-5E69-7B17-8802-13285293D0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4567" y="303342"/>
            <a:ext cx="10515600" cy="1325563"/>
          </a:xfrm>
        </p:spPr>
        <p:txBody>
          <a:bodyPr/>
          <a:lstStyle/>
          <a:p>
            <a:r>
              <a:rPr lang="en-US" dirty="0"/>
              <a:t>Installation Dependency Graph</a:t>
            </a:r>
          </a:p>
        </p:txBody>
      </p:sp>
      <p:pic>
        <p:nvPicPr>
          <p:cNvPr id="5" name="Picture 4" descr="A diagram of a computer program&#10;&#10;AI-generated content may be incorrect.">
            <a:extLst>
              <a:ext uri="{FF2B5EF4-FFF2-40B4-BE49-F238E27FC236}">
                <a16:creationId xmlns:a16="http://schemas.microsoft.com/office/drawing/2014/main" id="{415F1B5C-2008-C843-6045-729DCDAC898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367447"/>
            <a:ext cx="11947498" cy="50333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061348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5473CC-C4B8-30DD-8237-991B1A7E64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2146" y="204488"/>
            <a:ext cx="10515600" cy="598702"/>
          </a:xfrm>
        </p:spPr>
        <p:txBody>
          <a:bodyPr>
            <a:normAutofit fontScale="90000"/>
          </a:bodyPr>
          <a:lstStyle/>
          <a:p>
            <a:r>
              <a:rPr lang="en-US" dirty="0"/>
              <a:t>Book Build Workflow</a:t>
            </a:r>
          </a:p>
        </p:txBody>
      </p:sp>
      <p:pic>
        <p:nvPicPr>
          <p:cNvPr id="5" name="Picture 4" descr="A diagram of a diagram&#10;&#10;AI-generated content may be incorrect.">
            <a:extLst>
              <a:ext uri="{FF2B5EF4-FFF2-40B4-BE49-F238E27FC236}">
                <a16:creationId xmlns:a16="http://schemas.microsoft.com/office/drawing/2014/main" id="{7161F8E0-C5B4-4B43-4612-054710CCD7C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06262" y="778474"/>
            <a:ext cx="3322938" cy="5733697"/>
          </a:xfrm>
          <a:prstGeom prst="rect">
            <a:avLst/>
          </a:prstGeom>
        </p:spPr>
      </p:pic>
      <p:pic>
        <p:nvPicPr>
          <p:cNvPr id="7" name="Picture 6" descr="A diagram of a question&#10;&#10;AI-generated content may be incorrect.">
            <a:extLst>
              <a:ext uri="{FF2B5EF4-FFF2-40B4-BE49-F238E27FC236}">
                <a16:creationId xmlns:a16="http://schemas.microsoft.com/office/drawing/2014/main" id="{B937FDE5-EF85-C749-FE41-7BB192DF833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66658" y="284205"/>
            <a:ext cx="3068320" cy="640080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CB50A5BB-11D3-EF6B-F4B0-7E5B4AFB48E4}"/>
              </a:ext>
            </a:extLst>
          </p:cNvPr>
          <p:cNvSpPr txBox="1"/>
          <p:nvPr/>
        </p:nvSpPr>
        <p:spPr>
          <a:xfrm>
            <a:off x="9588843" y="2953266"/>
            <a:ext cx="171168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Supplementary</a:t>
            </a:r>
          </a:p>
          <a:p>
            <a:r>
              <a:rPr lang="en-US" dirty="0"/>
              <a:t>Content</a:t>
            </a:r>
          </a:p>
        </p:txBody>
      </p:sp>
      <p:sp>
        <p:nvSpPr>
          <p:cNvPr id="9" name="Right Brace 8">
            <a:extLst>
              <a:ext uri="{FF2B5EF4-FFF2-40B4-BE49-F238E27FC236}">
                <a16:creationId xmlns:a16="http://schemas.microsoft.com/office/drawing/2014/main" id="{95DC314C-CC18-9659-DE4D-E6C1B23A643E}"/>
              </a:ext>
            </a:extLst>
          </p:cNvPr>
          <p:cNvSpPr/>
          <p:nvPr/>
        </p:nvSpPr>
        <p:spPr>
          <a:xfrm>
            <a:off x="8674443" y="1309816"/>
            <a:ext cx="877330" cy="4015946"/>
          </a:xfrm>
          <a:prstGeom prst="rightBrac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130A75B-DA9E-8177-624E-E197840B29A8}"/>
              </a:ext>
            </a:extLst>
          </p:cNvPr>
          <p:cNvSpPr txBox="1"/>
          <p:nvPr/>
        </p:nvSpPr>
        <p:spPr>
          <a:xfrm rot="5400000">
            <a:off x="5377697" y="2765114"/>
            <a:ext cx="182601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MicroSims</a:t>
            </a:r>
          </a:p>
        </p:txBody>
      </p:sp>
    </p:spTree>
    <p:extLst>
      <p:ext uri="{BB962C8B-B14F-4D97-AF65-F5344CB8AC3E}">
        <p14:creationId xmlns:p14="http://schemas.microsoft.com/office/powerpoint/2010/main" val="161635096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0130B4-A891-3E4D-667F-FFD718475F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4957119" cy="1325563"/>
          </a:xfrm>
        </p:spPr>
        <p:txBody>
          <a:bodyPr/>
          <a:lstStyle/>
          <a:p>
            <a:r>
              <a:rPr lang="en-US" dirty="0"/>
              <a:t>Course Description</a:t>
            </a:r>
            <a:br>
              <a:rPr lang="en-US" dirty="0"/>
            </a:br>
            <a:r>
              <a:rPr lang="en-US" dirty="0"/>
              <a:t>Quality</a:t>
            </a:r>
          </a:p>
        </p:txBody>
      </p:sp>
      <p:pic>
        <p:nvPicPr>
          <p:cNvPr id="5" name="Picture 4" descr="A diagram of a quality score&#10;&#10;AI-generated content may be incorrect.">
            <a:extLst>
              <a:ext uri="{FF2B5EF4-FFF2-40B4-BE49-F238E27FC236}">
                <a16:creationId xmlns:a16="http://schemas.microsoft.com/office/drawing/2014/main" id="{E8E85C3B-4003-5CCC-4852-BB86394A8BD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60391" y="272686"/>
            <a:ext cx="4734831" cy="6424676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F678085B-57C5-4410-FD59-32E81C40172B}"/>
              </a:ext>
            </a:extLst>
          </p:cNvPr>
          <p:cNvSpPr txBox="1"/>
          <p:nvPr/>
        </p:nvSpPr>
        <p:spPr>
          <a:xfrm>
            <a:off x="276823" y="6338534"/>
            <a:ext cx="627774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https://</a:t>
            </a:r>
            <a:r>
              <a:rPr lang="en-US" dirty="0" err="1"/>
              <a:t>dmccreary.github.io</a:t>
            </a:r>
            <a:r>
              <a:rPr lang="en-US" dirty="0"/>
              <a:t>/claude-skills/course-description/</a:t>
            </a:r>
          </a:p>
        </p:txBody>
      </p:sp>
    </p:spTree>
    <p:extLst>
      <p:ext uri="{BB962C8B-B14F-4D97-AF65-F5344CB8AC3E}">
        <p14:creationId xmlns:p14="http://schemas.microsoft.com/office/powerpoint/2010/main" val="308857227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5AC5BF-7294-03A4-0602-1C43210008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6286" y="315698"/>
            <a:ext cx="4129216" cy="672843"/>
          </a:xfrm>
        </p:spPr>
        <p:txBody>
          <a:bodyPr>
            <a:normAutofit fontScale="90000"/>
          </a:bodyPr>
          <a:lstStyle/>
          <a:p>
            <a:r>
              <a:rPr lang="en-US" dirty="0"/>
              <a:t>List of Concepts</a:t>
            </a:r>
          </a:p>
        </p:txBody>
      </p:sp>
      <p:pic>
        <p:nvPicPr>
          <p:cNvPr id="5" name="Picture 4" descr="A screenshot of a phone&#10;&#10;AI-generated content may be incorrect.">
            <a:extLst>
              <a:ext uri="{FF2B5EF4-FFF2-40B4-BE49-F238E27FC236}">
                <a16:creationId xmlns:a16="http://schemas.microsoft.com/office/drawing/2014/main" id="{CFE5D9F4-85CA-01D9-83BE-6FC096C1B90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92910" y="527489"/>
            <a:ext cx="3863557" cy="5680074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71C69C99-AE79-D62B-008C-B1C519DD0059}"/>
              </a:ext>
            </a:extLst>
          </p:cNvPr>
          <p:cNvSpPr txBox="1"/>
          <p:nvPr/>
        </p:nvSpPr>
        <p:spPr>
          <a:xfrm>
            <a:off x="285008" y="6329548"/>
            <a:ext cx="71052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https://</a:t>
            </a:r>
            <a:r>
              <a:rPr lang="en-US" dirty="0" err="1"/>
              <a:t>dmccreary.github.io</a:t>
            </a:r>
            <a:r>
              <a:rPr lang="en-US" dirty="0"/>
              <a:t>/claude-skills/learning-graph/concept-list/</a:t>
            </a:r>
          </a:p>
        </p:txBody>
      </p:sp>
    </p:spTree>
    <p:extLst>
      <p:ext uri="{BB962C8B-B14F-4D97-AF65-F5344CB8AC3E}">
        <p14:creationId xmlns:p14="http://schemas.microsoft.com/office/powerpoint/2010/main" val="242838054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251668-E7B7-F308-B13A-B5FF3AC377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8578" y="192130"/>
            <a:ext cx="3956222" cy="808767"/>
          </a:xfrm>
        </p:spPr>
        <p:txBody>
          <a:bodyPr/>
          <a:lstStyle/>
          <a:p>
            <a:r>
              <a:rPr lang="en-US" dirty="0"/>
              <a:t>Learning Graph</a:t>
            </a:r>
          </a:p>
        </p:txBody>
      </p:sp>
      <p:pic>
        <p:nvPicPr>
          <p:cNvPr id="5" name="Picture 4" descr="A screenshot of a diagram&#10;&#10;AI-generated content may be incorrect.">
            <a:extLst>
              <a:ext uri="{FF2B5EF4-FFF2-40B4-BE49-F238E27FC236}">
                <a16:creationId xmlns:a16="http://schemas.microsoft.com/office/drawing/2014/main" id="{095091D2-B985-F683-A3DA-8D089D41F6A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29788" y="926000"/>
            <a:ext cx="7374141" cy="5341443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2EBA3D2B-B3A1-408A-781C-A9497C206EB4}"/>
              </a:ext>
            </a:extLst>
          </p:cNvPr>
          <p:cNvSpPr txBox="1"/>
          <p:nvPr/>
        </p:nvSpPr>
        <p:spPr>
          <a:xfrm>
            <a:off x="1959429" y="6353299"/>
            <a:ext cx="723614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https://</a:t>
            </a:r>
            <a:r>
              <a:rPr lang="en-US" dirty="0" err="1"/>
              <a:t>dmccreary.github.io</a:t>
            </a:r>
            <a:r>
              <a:rPr lang="en-US" dirty="0"/>
              <a:t>/claude-skills/sims/graph-viewer/</a:t>
            </a:r>
            <a:r>
              <a:rPr lang="en-US" dirty="0" err="1"/>
              <a:t>main.html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3006181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6BC6EC-AD37-E0C0-D1EA-7E2DF7A11F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1573" y="340411"/>
            <a:ext cx="4363995" cy="1325563"/>
          </a:xfrm>
        </p:spPr>
        <p:txBody>
          <a:bodyPr/>
          <a:lstStyle/>
          <a:p>
            <a:r>
              <a:rPr lang="en-US" dirty="0"/>
              <a:t>Knowledge Graph </a:t>
            </a:r>
            <a:br>
              <a:rPr lang="en-US" dirty="0"/>
            </a:br>
            <a:r>
              <a:rPr lang="en-US" dirty="0"/>
              <a:t>Quality</a:t>
            </a:r>
          </a:p>
        </p:txBody>
      </p:sp>
      <p:pic>
        <p:nvPicPr>
          <p:cNvPr id="5" name="Picture 4" descr="A screenshot of a diagram&#10;&#10;AI-generated content may be incorrect.">
            <a:extLst>
              <a:ext uri="{FF2B5EF4-FFF2-40B4-BE49-F238E27FC236}">
                <a16:creationId xmlns:a16="http://schemas.microsoft.com/office/drawing/2014/main" id="{820CAC6E-D64E-28FE-D540-5CBB5FC5B5C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03830" y="185353"/>
            <a:ext cx="6500311" cy="64105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694436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7E475B-D04D-A435-F76A-C7D914D493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4503" y="290984"/>
            <a:ext cx="10515600" cy="524561"/>
          </a:xfrm>
        </p:spPr>
        <p:txBody>
          <a:bodyPr>
            <a:normAutofit fontScale="90000"/>
          </a:bodyPr>
          <a:lstStyle/>
          <a:p>
            <a:r>
              <a:rPr lang="en-US" dirty="0"/>
              <a:t>Concept Dependency (Enablement)</a:t>
            </a:r>
          </a:p>
        </p:txBody>
      </p:sp>
      <p:pic>
        <p:nvPicPr>
          <p:cNvPr id="5" name="Picture 4" descr="A diagram of a diagram&#10;&#10;AI-generated content may be incorrect.">
            <a:extLst>
              <a:ext uri="{FF2B5EF4-FFF2-40B4-BE49-F238E27FC236}">
                <a16:creationId xmlns:a16="http://schemas.microsoft.com/office/drawing/2014/main" id="{14DBD81E-34D7-9CF7-556D-4411AD07976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8919" y="960286"/>
            <a:ext cx="11475865" cy="56011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773565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73031C-9D96-BE90-43F5-A8C8557596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8643" y="204487"/>
            <a:ext cx="10515600" cy="1325563"/>
          </a:xfrm>
        </p:spPr>
        <p:txBody>
          <a:bodyPr/>
          <a:lstStyle/>
          <a:p>
            <a:r>
              <a:rPr lang="en-US" dirty="0"/>
              <a:t>Chapter Structure</a:t>
            </a:r>
          </a:p>
        </p:txBody>
      </p:sp>
      <p:pic>
        <p:nvPicPr>
          <p:cNvPr id="5" name="Picture 4" descr="A diagram of a diagram&#10;&#10;AI-generated content may be incorrect.">
            <a:extLst>
              <a:ext uri="{FF2B5EF4-FFF2-40B4-BE49-F238E27FC236}">
                <a16:creationId xmlns:a16="http://schemas.microsoft.com/office/drawing/2014/main" id="{DF0A7CA9-47A2-E5C9-1DB5-050CCF03653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6054" y="1463027"/>
            <a:ext cx="10899664" cy="47524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353364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A23269-EE27-47B0-7431-6BB5306603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2719" y="247135"/>
            <a:ext cx="10515600" cy="788645"/>
          </a:xfrm>
        </p:spPr>
        <p:txBody>
          <a:bodyPr>
            <a:normAutofit fontScale="90000"/>
          </a:bodyPr>
          <a:lstStyle/>
          <a:p>
            <a:r>
              <a:rPr lang="en-US" dirty="0"/>
              <a:t>Chapter Content </a:t>
            </a:r>
            <a:br>
              <a:rPr lang="en-US" dirty="0"/>
            </a:br>
            <a:r>
              <a:rPr lang="en-US" dirty="0"/>
              <a:t>Generation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1C4E1C-438D-BD34-30B5-215C480680E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1638" y="1627917"/>
            <a:ext cx="4030362" cy="2116180"/>
          </a:xfrm>
        </p:spPr>
        <p:txBody>
          <a:bodyPr>
            <a:normAutofit lnSpcReduction="10000"/>
          </a:bodyPr>
          <a:lstStyle/>
          <a:p>
            <a:r>
              <a:rPr lang="en-US" dirty="0"/>
              <a:t>Rules to break up the “Wall of Text”</a:t>
            </a:r>
          </a:p>
          <a:p>
            <a:r>
              <a:rPr lang="en-US" dirty="0"/>
              <a:t>Placement of lists, tables, callouts, admonitions</a:t>
            </a:r>
          </a:p>
          <a:p>
            <a:endParaRPr lang="en-US" dirty="0"/>
          </a:p>
        </p:txBody>
      </p:sp>
      <p:pic>
        <p:nvPicPr>
          <p:cNvPr id="5" name="Picture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4FD9CA38-89DF-91E4-16E2-2C2B7AD039D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61090" y="222420"/>
            <a:ext cx="7332056" cy="61724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615112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6617F5-BCB8-D835-F632-06380FC603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0362" y="130348"/>
            <a:ext cx="10515600" cy="895264"/>
          </a:xfrm>
        </p:spPr>
        <p:txBody>
          <a:bodyPr/>
          <a:lstStyle/>
          <a:p>
            <a:r>
              <a:rPr lang="en-US" dirty="0"/>
              <a:t>Supplementary Content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8B0FC3-25AD-CE21-56E0-FB154A71701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01130" y="1170717"/>
            <a:ext cx="4289854" cy="4351338"/>
          </a:xfrm>
        </p:spPr>
        <p:txBody>
          <a:bodyPr>
            <a:normAutofit/>
          </a:bodyPr>
          <a:lstStyle/>
          <a:p>
            <a:r>
              <a:rPr lang="en-US" sz="3600" dirty="0"/>
              <a:t>Glossary</a:t>
            </a:r>
          </a:p>
          <a:p>
            <a:r>
              <a:rPr lang="en-US" sz="3600" dirty="0"/>
              <a:t>FAQ</a:t>
            </a:r>
          </a:p>
          <a:p>
            <a:r>
              <a:rPr lang="en-US" sz="3600" dirty="0"/>
              <a:t>Quizzes</a:t>
            </a:r>
          </a:p>
          <a:p>
            <a:r>
              <a:rPr lang="en-US" sz="3600" dirty="0"/>
              <a:t>References</a:t>
            </a:r>
          </a:p>
          <a:p>
            <a:r>
              <a:rPr lang="en-US" sz="3600" dirty="0"/>
              <a:t>Book Metrics</a:t>
            </a:r>
          </a:p>
          <a:p>
            <a:r>
              <a:rPr lang="en-US" sz="3600" dirty="0"/>
              <a:t>Announcements</a:t>
            </a:r>
          </a:p>
        </p:txBody>
      </p:sp>
    </p:spTree>
    <p:extLst>
      <p:ext uri="{BB962C8B-B14F-4D97-AF65-F5344CB8AC3E}">
        <p14:creationId xmlns:p14="http://schemas.microsoft.com/office/powerpoint/2010/main" val="246601643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D090EF-444D-F2D1-963C-CCAAB0AEB0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MircoSim Skills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35668C-0899-7FFE-FDD3-09CCCFD458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Microsim-p5</a:t>
            </a:r>
          </a:p>
          <a:p>
            <a:r>
              <a:rPr lang="en-US" dirty="0"/>
              <a:t>Chartjs-generator</a:t>
            </a:r>
          </a:p>
          <a:p>
            <a:r>
              <a:rPr lang="en-US" dirty="0"/>
              <a:t>Vis-network</a:t>
            </a:r>
          </a:p>
          <a:p>
            <a:r>
              <a:rPr lang="en-US" dirty="0"/>
              <a:t>Mermaid-generator</a:t>
            </a:r>
          </a:p>
          <a:p>
            <a:r>
              <a:rPr lang="en-US" dirty="0"/>
              <a:t>Timeline-generator</a:t>
            </a:r>
          </a:p>
          <a:p>
            <a:r>
              <a:rPr lang="en-US" dirty="0"/>
              <a:t>Map-Generator</a:t>
            </a:r>
          </a:p>
          <a:p>
            <a:r>
              <a:rPr lang="en-US" dirty="0"/>
              <a:t>Causal Loop Generator</a:t>
            </a:r>
          </a:p>
          <a:p>
            <a:r>
              <a:rPr lang="en-US" dirty="0"/>
              <a:t>Equation Plot with Plotly</a:t>
            </a:r>
          </a:p>
        </p:txBody>
      </p:sp>
    </p:spTree>
    <p:extLst>
      <p:ext uri="{BB962C8B-B14F-4D97-AF65-F5344CB8AC3E}">
        <p14:creationId xmlns:p14="http://schemas.microsoft.com/office/powerpoint/2010/main" val="221864333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ADCAEF-4A2E-0D11-50F2-C0075D7F5D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2146" y="377483"/>
            <a:ext cx="10515600" cy="660486"/>
          </a:xfrm>
        </p:spPr>
        <p:txBody>
          <a:bodyPr>
            <a:normAutofit fontScale="90000"/>
          </a:bodyPr>
          <a:lstStyle/>
          <a:p>
            <a:r>
              <a:rPr lang="en-US" dirty="0"/>
              <a:t>Wrap Up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8ACD20-05D9-FC94-02A8-D910D6FF629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What did you like?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What could we have done better?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Would you like to be able to teach this workshop?  Audience?</a:t>
            </a:r>
          </a:p>
        </p:txBody>
      </p:sp>
    </p:spTree>
    <p:extLst>
      <p:ext uri="{BB962C8B-B14F-4D97-AF65-F5344CB8AC3E}">
        <p14:creationId xmlns:p14="http://schemas.microsoft.com/office/powerpoint/2010/main" val="411680345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3319</TotalTime>
  <Words>172</Words>
  <Application>Microsoft Macintosh PowerPoint</Application>
  <PresentationFormat>Widescreen</PresentationFormat>
  <Paragraphs>52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0" baseType="lpstr">
      <vt:lpstr>Aptos</vt:lpstr>
      <vt:lpstr>Aptos Display</vt:lpstr>
      <vt:lpstr>Arial</vt:lpstr>
      <vt:lpstr>Office Theme</vt:lpstr>
      <vt:lpstr>Claude Skills for Intelligent Textbooks</vt:lpstr>
      <vt:lpstr>PowerPoint Presentation</vt:lpstr>
      <vt:lpstr>Five Levels of Intelligent Textbooks</vt:lpstr>
      <vt:lpstr>Bloom 2001 Taxonomy</vt:lpstr>
      <vt:lpstr>Installation Dependency Graph</vt:lpstr>
      <vt:lpstr>Book Build Workflow</vt:lpstr>
      <vt:lpstr>Course Description Quality</vt:lpstr>
      <vt:lpstr>List of Concepts</vt:lpstr>
      <vt:lpstr>Learning Graph</vt:lpstr>
      <vt:lpstr>Knowledge Graph  Quality</vt:lpstr>
      <vt:lpstr>Concept Dependency (Enablement)</vt:lpstr>
      <vt:lpstr>Chapter Structure</vt:lpstr>
      <vt:lpstr>Chapter Content  Generation</vt:lpstr>
      <vt:lpstr>Supplementary Content</vt:lpstr>
      <vt:lpstr>MircoSim Skills</vt:lpstr>
      <vt:lpstr>Wrap Up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Dan McCreary</dc:creator>
  <cp:lastModifiedBy>Dan McCreary</cp:lastModifiedBy>
  <cp:revision>5</cp:revision>
  <dcterms:created xsi:type="dcterms:W3CDTF">2025-11-01T17:54:42Z</dcterms:created>
  <dcterms:modified xsi:type="dcterms:W3CDTF">2025-12-01T23:38:11Z</dcterms:modified>
</cp:coreProperties>
</file>